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3f6ca3de2649a9" /><Relationship Type="http://schemas.openxmlformats.org/officeDocument/2006/relationships/extended-properties" Target="/docProps/app.xml" Id="Rcda560d61e6b46e7" /><Relationship Type="http://schemas.openxmlformats.org/officeDocument/2006/relationships/officeDocument" Target="/ppt/presentation.xml" Id="R31d2c121f9ce44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7919c9d8d34383"/>
  </p:sldMasterIdLst>
  <p:notesMasterIdLst>
    <p:notesMasterId xmlns:r="http://schemas.openxmlformats.org/officeDocument/2006/relationships" r:id="Rc7ac9d3935a2497d"/>
  </p:notesMasterIdLst>
  <p:sldIdLst>
    <p:sldId xmlns:r="http://schemas.openxmlformats.org/officeDocument/2006/relationships" id="256" r:id="Rc8f2940d24354f0e"/>
  </p:sldIdLst>
  <p:sldSz cx="12192000" cy="9144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0f214ce4094505" /><Relationship Type="http://schemas.openxmlformats.org/officeDocument/2006/relationships/slideMaster" Target="/ppt/slideMasters/slideMaster1.xml" Id="R9b7919c9d8d34383" /><Relationship Type="http://schemas.openxmlformats.org/officeDocument/2006/relationships/notesMaster" Target="/ppt/notesMasters/notesMaster1.xml" Id="Rc7ac9d3935a2497d" /><Relationship Type="http://schemas.openxmlformats.org/officeDocument/2006/relationships/presProps" Target="/ppt/presProps.xml" Id="Rc17a4d6c1a8546ec" /><Relationship Type="http://schemas.openxmlformats.org/officeDocument/2006/relationships/viewProps" Target="/ppt/viewProps.xml" Id="Rc96df8101a434dde" /><Relationship Type="http://schemas.openxmlformats.org/officeDocument/2006/relationships/tableStyles" Target="/ppt/tableStyles.xml" Id="R1afca94795cd41c9" /><Relationship Type="http://schemas.openxmlformats.org/officeDocument/2006/relationships/slide" Target="/ppt/slides/slide1.xml" Id="Rc8f2940d24354f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6ce5a1c4b541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1066f9ead040e4" /><Relationship Type="http://schemas.openxmlformats.org/officeDocument/2006/relationships/notesMaster" Target="/ppt/notesMasters/notesMaster1.xml" Id="R7ac30a3e7fe84c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c02b1e9a6049d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170781a4bb429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b92bf0293a478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5b4b1362444ad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d4956bfb96414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593ab95e5d41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58E7A6-CBDE-41E1-9BA4-4DC559AFCC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3454400"/>
            <a:ext cx="9753600" cy="132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5AA2783-6480-4DF6-9626-10457C7391A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5029200"/>
            <a:ext cx="85344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CF33067-0EE4-4A9C-801F-27C7B628B5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3810000"/>
            <a:ext cx="9753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6AFCAF-DBEF-4CEC-9E3F-2FCBB4C3F1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711200"/>
            <a:ext cx="108204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1C04B0B-08D7-4AE0-80B6-F508BE8AEB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540000"/>
            <a:ext cx="10820400" cy="56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ABB3F99-8874-4DEC-A6BF-616430D976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711200"/>
            <a:ext cx="108204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5B529EC-7855-4B2F-97AF-DF76B3C6F8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540000"/>
            <a:ext cx="5029200" cy="56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1F7BF43-1DB6-4FE4-99B2-03D5A7B3401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2540000"/>
            <a:ext cx="5029200" cy="56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5C63DE-F99C-4027-B903-1BC5EDEA56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711200"/>
            <a:ext cx="108204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726FED-11B9-4DB9-A07F-8D682A9AA3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540000"/>
            <a:ext cx="5029200" cy="56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c3c5eb52334e33" /><Relationship Type="http://schemas.openxmlformats.org/officeDocument/2006/relationships/slideLayout" Target="/ppt/slideLayouts/slideLayout1.xml" Id="R97c6e70257d54dc0" /><Relationship Type="http://schemas.openxmlformats.org/officeDocument/2006/relationships/slideLayout" Target="/ppt/slideLayouts/slideLayout2.xml" Id="R91f6939c93f74449" /><Relationship Type="http://schemas.openxmlformats.org/officeDocument/2006/relationships/slideLayout" Target="/ppt/slideLayouts/slideLayout3.xml" Id="R8eb140ad6b5d4937" /><Relationship Type="http://schemas.openxmlformats.org/officeDocument/2006/relationships/slideLayout" Target="/ppt/slideLayouts/slideLayout4.xml" Id="Rf19d3adbbbb54287" /><Relationship Type="http://schemas.openxmlformats.org/officeDocument/2006/relationships/slideLayout" Target="/ppt/slideLayouts/slideLayout5.xml" Id="Rfc0446f3c3d24612" /><Relationship Type="http://schemas.openxmlformats.org/officeDocument/2006/relationships/slideLayout" Target="/ppt/slideLayouts/slideLayout6.xml" Id="R5888f7feee69419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c6e70257d54dc0"/>
    <p:sldLayoutId xmlns:r="http://schemas.openxmlformats.org/officeDocument/2006/relationships" id="2147483650" r:id="R91f6939c93f74449"/>
    <p:sldLayoutId xmlns:r="http://schemas.openxmlformats.org/officeDocument/2006/relationships" id="2147483651" r:id="R8eb140ad6b5d4937"/>
    <p:sldLayoutId xmlns:r="http://schemas.openxmlformats.org/officeDocument/2006/relationships" id="2147483652" r:id="Rf19d3adbbbb54287"/>
    <p:sldLayoutId xmlns:r="http://schemas.openxmlformats.org/officeDocument/2006/relationships" id="2147483653" r:id="Rfc0446f3c3d24612"/>
    <p:sldLayoutId xmlns:r="http://schemas.openxmlformats.org/officeDocument/2006/relationships" id="2147483654" r:id="R5888f7feee6941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b77cbd39254020" /><Relationship Type="http://schemas.openxmlformats.org/officeDocument/2006/relationships/notesSlide" Target="/ppt/notesSlides/notesSlide1.xml" Id="Rc23f4b14ef7d44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west_upper">
            <a:extLst xmlns:a="http://schemas.openxmlformats.org/drawingml/2006/main">
              <a:ext uri="{FF2B5EF4-FFF2-40B4-BE49-F238E27FC236}">
                <a16:creationId xmlns:a16="http://schemas.microsoft.com/office/drawing/2014/main" id="{73FF4FF8-0A63-4FEF-862E-C9264AE6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190625"/>
            <a:ext cx="142875" cy="3114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1F"/>
          </a:solidFill>
          <a:ln xmlns:a="http://schemas.openxmlformats.org/drawingml/2006/main" w="0">
            <a:noFill/>
          </a:ln>
        </p:spPr>
      </p:sp>
      <p:sp>
        <p:nvSpPr>
          <p:cNvPr id="2" name="tv_W38">
            <a:extLst xmlns:a="http://schemas.openxmlformats.org/drawingml/2006/main">
              <a:ext uri="{FF2B5EF4-FFF2-40B4-BE49-F238E27FC236}">
                <a16:creationId xmlns:a16="http://schemas.microsoft.com/office/drawing/2014/main" id="{DED4E18D-BEA3-4EAE-9920-7F4EA5C1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05300"/>
            <a:ext cx="142875" cy="22217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</a:ln>
        </p:spPr>
      </p:sp>
      <p:sp>
        <p:nvSpPr>
          <p:cNvPr id="3" name="west_lower">
            <a:extLst xmlns:a="http://schemas.openxmlformats.org/drawingml/2006/main">
              <a:ext uri="{FF2B5EF4-FFF2-40B4-BE49-F238E27FC236}">
                <a16:creationId xmlns:a16="http://schemas.microsoft.com/office/drawing/2014/main" id="{3D811731-006A-476C-8232-31653991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527006"/>
            <a:ext cx="142875" cy="22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1F"/>
          </a:solidFill>
          <a:ln xmlns:a="http://schemas.openxmlformats.org/drawingml/2006/main" w="0">
            <a:noFill/>
          </a:ln>
        </p:spPr>
      </p:sp>
      <p:sp>
        <p:nvSpPr>
          <p:cNvPr id="4" name="entry_W40">
            <a:extLst xmlns:a="http://schemas.openxmlformats.org/drawingml/2006/main">
              <a:ext uri="{FF2B5EF4-FFF2-40B4-BE49-F238E27FC236}">
                <a16:creationId xmlns:a16="http://schemas.microsoft.com/office/drawing/2014/main" id="{1D0676B5-0C98-45E5-AE95-FAF42565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190625"/>
            <a:ext cx="502206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1F"/>
          </a:solidFill>
          <a:ln xmlns:a="http://schemas.openxmlformats.org/drawingml/2006/main" w="0">
            <a:noFill/>
          </a:ln>
        </p:spPr>
      </p:sp>
      <p:sp>
        <p:nvSpPr>
          <p:cNvPr id="5" name="entry_W02">
            <a:extLst xmlns:a="http://schemas.openxmlformats.org/drawingml/2006/main">
              <a:ext uri="{FF2B5EF4-FFF2-40B4-BE49-F238E27FC236}">
                <a16:creationId xmlns:a16="http://schemas.microsoft.com/office/drawing/2014/main" id="{28EED06C-1D14-4975-8578-EA1DF455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837" y="1190625"/>
            <a:ext cx="1153001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1F"/>
          </a:solidFill>
          <a:ln xmlns:a="http://schemas.openxmlformats.org/drawingml/2006/main" w="0">
            <a:noFill/>
          </a:ln>
        </p:spPr>
      </p:sp>
      <p:sp>
        <p:nvSpPr>
          <p:cNvPr id="6" name="kitchen_left_upper">
            <a:extLst xmlns:a="http://schemas.openxmlformats.org/drawingml/2006/main">
              <a:ext uri="{FF2B5EF4-FFF2-40B4-BE49-F238E27FC236}">
                <a16:creationId xmlns:a16="http://schemas.microsoft.com/office/drawing/2014/main" id="{4F569018-1FFB-4583-AF15-D6607F55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3113" y="1333500"/>
            <a:ext cx="85725" cy="7643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1F"/>
          </a:solidFill>
          <a:ln xmlns:a="http://schemas.openxmlformats.org/drawingml/2006/main" w="0">
            <a:noFill/>
          </a:ln>
        </p:spPr>
      </p:sp>
      <p:sp>
        <p:nvSpPr>
          <p:cNvPr id="7" name="kitchen_upper_W05">
            <a:extLst xmlns:a="http://schemas.openxmlformats.org/drawingml/2006/main">
              <a:ext uri="{FF2B5EF4-FFF2-40B4-BE49-F238E27FC236}">
                <a16:creationId xmlns:a16="http://schemas.microsoft.com/office/drawing/2014/main" id="{CA3C25D5-9E85-4490-A07A-544BE357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838" y="1472803"/>
            <a:ext cx="92964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1F"/>
          </a:solidFill>
          <a:ln xmlns:a="http://schemas.openxmlformats.org/drawingml/2006/main" w="0">
            <a:noFill/>
          </a:ln>
        </p:spPr>
      </p:sp>
      <p:sp>
        <p:nvSpPr>
          <p:cNvPr id="8" name="kitchen_step_W06">
            <a:extLst xmlns:a="http://schemas.openxmlformats.org/drawingml/2006/main">
              <a:ext uri="{FF2B5EF4-FFF2-40B4-BE49-F238E27FC236}">
                <a16:creationId xmlns:a16="http://schemas.microsoft.com/office/drawing/2014/main" id="{4D1DEEB0-AC9C-4993-9005-7CD59B1A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478" y="1472803"/>
            <a:ext cx="85725" cy="442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1F"/>
          </a:solidFill>
          <a:ln xmlns:a="http://schemas.openxmlformats.org/drawingml/2006/main" w="0">
            <a:noFill/>
          </a:ln>
        </p:spPr>
      </p:sp>
      <p:sp>
        <p:nvSpPr>
          <p:cNvPr id="9" name="kitchen_step_W07">
            <a:extLst xmlns:a="http://schemas.openxmlformats.org/drawingml/2006/main">
              <a:ext uri="{FF2B5EF4-FFF2-40B4-BE49-F238E27FC236}">
                <a16:creationId xmlns:a16="http://schemas.microsoft.com/office/drawing/2014/main" id="{39A5123D-3548-46A0-8D23-08FEC36B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478" y="1772841"/>
            <a:ext cx="385286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1F"/>
          </a:solidFill>
          <a:ln xmlns:a="http://schemas.openxmlformats.org/drawingml/2006/main" w="0">
            <a:noFill/>
          </a:ln>
        </p:spPr>
      </p:sp>
      <p:sp>
        <p:nvSpPr>
          <p:cNvPr id="10" name="kitchen_right">
            <a:extLst xmlns:a="http://schemas.openxmlformats.org/drawingml/2006/main">
              <a:ext uri="{FF2B5EF4-FFF2-40B4-BE49-F238E27FC236}">
                <a16:creationId xmlns:a16="http://schemas.microsoft.com/office/drawing/2014/main" id="{83420A25-78A4-453A-B45A-A75CCD97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764" y="1472803"/>
            <a:ext cx="85725" cy="1971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1F"/>
          </a:solidFill>
          <a:ln xmlns:a="http://schemas.openxmlformats.org/drawingml/2006/main" w="0">
            <a:noFill/>
          </a:ln>
        </p:spPr>
      </p:sp>
      <p:sp>
        <p:nvSpPr>
          <p:cNvPr id="11" name="kitchen_left_lower">
            <a:extLst xmlns:a="http://schemas.openxmlformats.org/drawingml/2006/main">
              <a:ext uri="{FF2B5EF4-FFF2-40B4-BE49-F238E27FC236}">
                <a16:creationId xmlns:a16="http://schemas.microsoft.com/office/drawing/2014/main" id="{017FC93E-7858-4B4B-92FF-64A2FF9B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3113" y="3244453"/>
            <a:ext cx="85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1F"/>
          </a:solidFill>
          <a:ln xmlns:a="http://schemas.openxmlformats.org/drawingml/2006/main" w="0">
            <a:noFill/>
          </a:ln>
        </p:spPr>
      </p:sp>
      <p:sp>
        <p:nvSpPr>
          <p:cNvPr id="12" name="kitchen_south_W12">
            <a:extLst xmlns:a="http://schemas.openxmlformats.org/drawingml/2006/main">
              <a:ext uri="{FF2B5EF4-FFF2-40B4-BE49-F238E27FC236}">
                <a16:creationId xmlns:a16="http://schemas.microsoft.com/office/drawing/2014/main" id="{693F2610-E848-4EB0-9C03-F652FE5D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3113" y="3444478"/>
            <a:ext cx="1578769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1F"/>
          </a:solidFill>
          <a:ln xmlns:a="http://schemas.openxmlformats.org/drawingml/2006/main" w="0">
            <a:noFill/>
          </a:ln>
        </p:spPr>
      </p:sp>
      <p:sp>
        <p:nvSpPr>
          <p:cNvPr id="13" name="north_guest_bath">
            <a:extLst xmlns:a="http://schemas.openxmlformats.org/drawingml/2006/main">
              <a:ext uri="{FF2B5EF4-FFF2-40B4-BE49-F238E27FC236}">
                <a16:creationId xmlns:a16="http://schemas.microsoft.com/office/drawing/2014/main" id="{7F29C25E-6120-4C5F-9EC9-303BB449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9489" y="1472803"/>
            <a:ext cx="1087012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1F"/>
          </a:solidFill>
          <a:ln xmlns:a="http://schemas.openxmlformats.org/drawingml/2006/main" w="0">
            <a:noFill/>
          </a:ln>
        </p:spPr>
      </p:sp>
      <p:sp>
        <p:nvSpPr>
          <p:cNvPr id="14" name="north_bed2">
            <a:extLst xmlns:a="http://schemas.openxmlformats.org/drawingml/2006/main">
              <a:ext uri="{FF2B5EF4-FFF2-40B4-BE49-F238E27FC236}">
                <a16:creationId xmlns:a16="http://schemas.microsoft.com/office/drawing/2014/main" id="{D240B4A5-8160-4711-9673-6CD01AED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501" y="1472803"/>
            <a:ext cx="2135981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1F"/>
          </a:solidFill>
          <a:ln xmlns:a="http://schemas.openxmlformats.org/drawingml/2006/main" w="0">
            <a:noFill/>
          </a:ln>
        </p:spPr>
      </p:sp>
      <p:sp>
        <p:nvSpPr>
          <p:cNvPr id="15" name="north_right_bath">
            <a:extLst xmlns:a="http://schemas.openxmlformats.org/drawingml/2006/main">
              <a:ext uri="{FF2B5EF4-FFF2-40B4-BE49-F238E27FC236}">
                <a16:creationId xmlns:a16="http://schemas.microsoft.com/office/drawing/2014/main" id="{C3AC97C6-524B-44BF-A9D6-55C9CFF5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482" y="1472803"/>
            <a:ext cx="1369962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1F"/>
          </a:solidFill>
          <a:ln xmlns:a="http://schemas.openxmlformats.org/drawingml/2006/main" w="0">
            <a:noFill/>
          </a:ln>
        </p:spPr>
      </p:sp>
      <p:sp>
        <p:nvSpPr>
          <p:cNvPr id="16" name="bed2_west">
            <a:extLst xmlns:a="http://schemas.openxmlformats.org/drawingml/2006/main">
              <a:ext uri="{FF2B5EF4-FFF2-40B4-BE49-F238E27FC236}">
                <a16:creationId xmlns:a16="http://schemas.microsoft.com/office/drawing/2014/main" id="{C8B51232-7D19-44BB-AEE2-D7DC2847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501" y="1615678"/>
            <a:ext cx="8572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1F"/>
          </a:solidFill>
          <a:ln xmlns:a="http://schemas.openxmlformats.org/drawingml/2006/main" w="0">
            <a:noFill/>
          </a:ln>
        </p:spPr>
      </p:sp>
      <p:sp>
        <p:nvSpPr>
          <p:cNvPr id="17" name="bed2_east">
            <a:extLst xmlns:a="http://schemas.openxmlformats.org/drawingml/2006/main">
              <a:ext uri="{FF2B5EF4-FFF2-40B4-BE49-F238E27FC236}">
                <a16:creationId xmlns:a16="http://schemas.microsoft.com/office/drawing/2014/main" id="{05130F6D-7846-48FB-869D-71F8FB7B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482" y="1615678"/>
            <a:ext cx="8572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1F"/>
          </a:solidFill>
          <a:ln xmlns:a="http://schemas.openxmlformats.org/drawingml/2006/main" w="0">
            <a:noFill/>
          </a:ln>
        </p:spPr>
      </p:sp>
      <p:sp>
        <p:nvSpPr>
          <p:cNvPr id="18" name="between_doors_W13">
            <a:extLst xmlns:a="http://schemas.openxmlformats.org/drawingml/2006/main">
              <a:ext uri="{FF2B5EF4-FFF2-40B4-BE49-F238E27FC236}">
                <a16:creationId xmlns:a16="http://schemas.microsoft.com/office/drawing/2014/main" id="{5CD4781C-E7F3-4435-A033-7552F655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1448" y="3444478"/>
            <a:ext cx="596503" cy="110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1F"/>
          </a:solidFill>
          <a:ln xmlns:a="http://schemas.openxmlformats.org/drawingml/2006/main" w="0">
            <a:noFill/>
          </a:ln>
        </p:spPr>
      </p:sp>
      <p:sp>
        <p:nvSpPr>
          <p:cNvPr id="19" name="bed2_south_W17">
            <a:extLst xmlns:a="http://schemas.openxmlformats.org/drawingml/2006/main">
              <a:ext uri="{FF2B5EF4-FFF2-40B4-BE49-F238E27FC236}">
                <a16:creationId xmlns:a16="http://schemas.microsoft.com/office/drawing/2014/main" id="{76FF480B-5D0D-4E33-A226-C1EEFA1D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0882" y="3444478"/>
            <a:ext cx="1457325" cy="110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1F"/>
          </a:solidFill>
          <a:ln xmlns:a="http://schemas.openxmlformats.org/drawingml/2006/main" w="0">
            <a:noFill/>
          </a:ln>
        </p:spPr>
      </p:sp>
      <p:sp>
        <p:nvSpPr>
          <p:cNvPr id="20" name="right_bath_south_W18">
            <a:extLst xmlns:a="http://schemas.openxmlformats.org/drawingml/2006/main">
              <a:ext uri="{FF2B5EF4-FFF2-40B4-BE49-F238E27FC236}">
                <a16:creationId xmlns:a16="http://schemas.microsoft.com/office/drawing/2014/main" id="{74725EA6-4926-4255-91E9-F46A5150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8076" y="3444478"/>
            <a:ext cx="521494" cy="110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1F"/>
          </a:solidFill>
          <a:ln xmlns:a="http://schemas.openxmlformats.org/drawingml/2006/main" w="0">
            <a:noFill/>
          </a:ln>
        </p:spPr>
      </p:sp>
      <p:sp>
        <p:nvSpPr>
          <p:cNvPr id="21" name="east_outer">
            <a:extLst xmlns:a="http://schemas.openxmlformats.org/drawingml/2006/main">
              <a:ext uri="{FF2B5EF4-FFF2-40B4-BE49-F238E27FC236}">
                <a16:creationId xmlns:a16="http://schemas.microsoft.com/office/drawing/2014/main" id="{10AD6EE7-7D7B-49C7-819C-8B00408A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9569" y="1615678"/>
            <a:ext cx="142875" cy="5132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1F"/>
          </a:solidFill>
          <a:ln xmlns:a="http://schemas.openxmlformats.org/drawingml/2006/main" w="0">
            <a:noFill/>
          </a:ln>
        </p:spPr>
      </p:sp>
      <p:sp>
        <p:nvSpPr>
          <p:cNvPr id="22" name="bed3_west_W26_W33">
            <a:extLst xmlns:a="http://schemas.openxmlformats.org/drawingml/2006/main">
              <a:ext uri="{FF2B5EF4-FFF2-40B4-BE49-F238E27FC236}">
                <a16:creationId xmlns:a16="http://schemas.microsoft.com/office/drawing/2014/main" id="{040E0E0A-16DD-433C-9C2F-33957D95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0434" y="4323159"/>
            <a:ext cx="85725" cy="23395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1F"/>
          </a:solidFill>
          <a:ln xmlns:a="http://schemas.openxmlformats.org/drawingml/2006/main" w="0">
            <a:noFill/>
          </a:ln>
        </p:spPr>
      </p:sp>
      <p:sp>
        <p:nvSpPr>
          <p:cNvPr id="23" name="bed3_north_W25">
            <a:extLst xmlns:a="http://schemas.openxmlformats.org/drawingml/2006/main">
              <a:ext uri="{FF2B5EF4-FFF2-40B4-BE49-F238E27FC236}">
                <a16:creationId xmlns:a16="http://schemas.microsoft.com/office/drawing/2014/main" id="{BEF0C4DC-8A21-4BD2-AAAE-5A5028AC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0434" y="4323159"/>
            <a:ext cx="1378744" cy="821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1F"/>
          </a:solidFill>
          <a:ln xmlns:a="http://schemas.openxmlformats.org/drawingml/2006/main" w="0">
            <a:noFill/>
          </a:ln>
        </p:spPr>
      </p:sp>
      <p:sp>
        <p:nvSpPr>
          <p:cNvPr id="24" name="master_west_W24">
            <a:extLst xmlns:a="http://schemas.openxmlformats.org/drawingml/2006/main">
              <a:ext uri="{FF2B5EF4-FFF2-40B4-BE49-F238E27FC236}">
                <a16:creationId xmlns:a16="http://schemas.microsoft.com/office/drawing/2014/main" id="{523D3B20-296F-417A-B0A9-D0A4418E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694" y="4231719"/>
            <a:ext cx="85725" cy="2516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1F"/>
          </a:solidFill>
          <a:ln xmlns:a="http://schemas.openxmlformats.org/drawingml/2006/main" w="0">
            <a:noFill/>
          </a:ln>
        </p:spPr>
      </p:sp>
      <p:sp>
        <p:nvSpPr>
          <p:cNvPr id="25" name="south_W36">
            <a:extLst xmlns:a="http://schemas.openxmlformats.org/drawingml/2006/main">
              <a:ext uri="{FF2B5EF4-FFF2-40B4-BE49-F238E27FC236}">
                <a16:creationId xmlns:a16="http://schemas.microsoft.com/office/drawing/2014/main" id="{6FBB3C51-2583-4738-AC50-AFC2EBC3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662738"/>
            <a:ext cx="857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1F"/>
          </a:solidFill>
          <a:ln xmlns:a="http://schemas.openxmlformats.org/drawingml/2006/main" w="0">
            <a:noFill/>
          </a:ln>
        </p:spPr>
      </p:sp>
      <p:sp>
        <p:nvSpPr>
          <p:cNvPr id="26" name="south_W34">
            <a:extLst xmlns:a="http://schemas.openxmlformats.org/drawingml/2006/main">
              <a:ext uri="{FF2B5EF4-FFF2-40B4-BE49-F238E27FC236}">
                <a16:creationId xmlns:a16="http://schemas.microsoft.com/office/drawing/2014/main" id="{7924DB94-0D03-433C-9948-37AA209B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959" y="6662738"/>
            <a:ext cx="3714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1F"/>
          </a:solidFill>
          <a:ln xmlns:a="http://schemas.openxmlformats.org/drawingml/2006/main" w="0">
            <a:noFill/>
          </a:ln>
        </p:spPr>
      </p:sp>
      <p:sp>
        <p:nvSpPr>
          <p:cNvPr id="27" name="south_bed3_corner">
            <a:extLst xmlns:a="http://schemas.openxmlformats.org/drawingml/2006/main">
              <a:ext uri="{FF2B5EF4-FFF2-40B4-BE49-F238E27FC236}">
                <a16:creationId xmlns:a16="http://schemas.microsoft.com/office/drawing/2014/main" id="{F27A7E9F-3F69-4A97-A5BA-94D90349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0434" y="66627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1F"/>
          </a:solidFill>
          <a:ln xmlns:a="http://schemas.openxmlformats.org/drawingml/2006/main" w="0">
            <a:noFill/>
          </a:ln>
        </p:spPr>
      </p:sp>
      <p:sp>
        <p:nvSpPr>
          <p:cNvPr id="28" name="south_W27">
            <a:extLst xmlns:a="http://schemas.openxmlformats.org/drawingml/2006/main">
              <a:ext uri="{FF2B5EF4-FFF2-40B4-BE49-F238E27FC236}">
                <a16:creationId xmlns:a16="http://schemas.microsoft.com/office/drawing/2014/main" id="{BF74DFCE-3D30-4F6C-8FEB-D2207E0A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6159" y="6662738"/>
            <a:ext cx="264319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1F"/>
          </a:solidFill>
          <a:ln xmlns:a="http://schemas.openxmlformats.org/drawingml/2006/main" w="0">
            <a:noFill/>
          </a:ln>
        </p:spPr>
      </p:sp>
      <p:sp>
        <p:nvSpPr>
          <p:cNvPr id="29" name="south_W29">
            <a:extLst xmlns:a="http://schemas.openxmlformats.org/drawingml/2006/main">
              <a:ext uri="{FF2B5EF4-FFF2-40B4-BE49-F238E27FC236}">
                <a16:creationId xmlns:a16="http://schemas.microsoft.com/office/drawing/2014/main" id="{F6B73A43-8397-425E-ADDB-F73B2073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0634" y="6662738"/>
            <a:ext cx="475059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1F"/>
          </a:solidFill>
          <a:ln xmlns:a="http://schemas.openxmlformats.org/drawingml/2006/main" w="0">
            <a:noFill/>
          </a:ln>
        </p:spPr>
      </p:sp>
      <p:sp>
        <p:nvSpPr>
          <p:cNvPr id="30" name="south_W23">
            <a:extLst xmlns:a="http://schemas.openxmlformats.org/drawingml/2006/main">
              <a:ext uri="{FF2B5EF4-FFF2-40B4-BE49-F238E27FC236}">
                <a16:creationId xmlns:a16="http://schemas.microsoft.com/office/drawing/2014/main" id="{7E30C6EA-6549-420E-9485-DE5E3FA1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1419" y="6662738"/>
            <a:ext cx="5372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1F"/>
          </a:solidFill>
          <a:ln xmlns:a="http://schemas.openxmlformats.org/drawingml/2006/main" w="0">
            <a:noFill/>
          </a:ln>
        </p:spPr>
      </p:sp>
      <p:sp>
        <p:nvSpPr>
          <p:cNvPr id="31" name="south_W20">
            <a:extLst xmlns:a="http://schemas.openxmlformats.org/drawingml/2006/main">
              <a:ext uri="{FF2B5EF4-FFF2-40B4-BE49-F238E27FC236}">
                <a16:creationId xmlns:a16="http://schemas.microsoft.com/office/drawing/2014/main" id="{12D32886-3724-4414-ADD1-ABB7D3B2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8101" y="6662738"/>
            <a:ext cx="321469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1F"/>
          </a:solidFill>
          <a:ln xmlns:a="http://schemas.openxmlformats.org/drawingml/2006/main" w="0">
            <a:noFill/>
          </a:ln>
        </p:spPr>
      </p:sp>
      <p:sp>
        <p:nvSpPr>
          <p:cNvPr id="32" name="balcony_W30">
            <a:extLst xmlns:a="http://schemas.openxmlformats.org/drawingml/2006/main">
              <a:ext uri="{FF2B5EF4-FFF2-40B4-BE49-F238E27FC236}">
                <a16:creationId xmlns:a16="http://schemas.microsoft.com/office/drawing/2014/main" id="{35C7088C-D0CE-4329-BF89-103CEFA2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6748463"/>
            <a:ext cx="8572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1F"/>
          </a:solidFill>
          <a:ln xmlns:a="http://schemas.openxmlformats.org/drawingml/2006/main" w="0">
            <a:noFill/>
          </a:ln>
        </p:spPr>
      </p:sp>
      <p:sp>
        <p:nvSpPr>
          <p:cNvPr id="33" name="balcony_W31">
            <a:extLst xmlns:a="http://schemas.openxmlformats.org/drawingml/2006/main">
              <a:ext uri="{FF2B5EF4-FFF2-40B4-BE49-F238E27FC236}">
                <a16:creationId xmlns:a16="http://schemas.microsoft.com/office/drawing/2014/main" id="{EECE96F1-37FB-4413-B056-46699E92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148638"/>
            <a:ext cx="4950619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1F"/>
          </a:solidFill>
          <a:ln xmlns:a="http://schemas.openxmlformats.org/drawingml/2006/main" w="0">
            <a:noFill/>
          </a:ln>
        </p:spPr>
      </p:sp>
      <p:sp>
        <p:nvSpPr>
          <p:cNvPr id="34" name="balcony_W32">
            <a:extLst xmlns:a="http://schemas.openxmlformats.org/drawingml/2006/main">
              <a:ext uri="{FF2B5EF4-FFF2-40B4-BE49-F238E27FC236}">
                <a16:creationId xmlns:a16="http://schemas.microsoft.com/office/drawing/2014/main" id="{92D8BBBF-27D9-41AB-8ADA-7CDAABE3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19" y="6748463"/>
            <a:ext cx="8572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1F"/>
          </a:solidFill>
          <a:ln xmlns:a="http://schemas.openxmlformats.org/drawingml/2006/main" w="0">
            <a:noFill/>
          </a:ln>
        </p:spPr>
      </p:sp>
      <p:sp>
        <p:nvSpPr>
          <p:cNvPr id="35" name="bay_left">
            <a:extLst xmlns:a="http://schemas.openxmlformats.org/drawingml/2006/main">
              <a:ext uri="{FF2B5EF4-FFF2-40B4-BE49-F238E27FC236}">
                <a16:creationId xmlns:a16="http://schemas.microsoft.com/office/drawing/2014/main" id="{3C6D899A-16D1-41D0-A34D-F0CEDD35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191" y="6662738"/>
            <a:ext cx="71438" cy="6500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B93"/>
          </a:solidFill>
          <a:ln xmlns:a="http://schemas.openxmlformats.org/drawingml/2006/main" w="0">
            <a:noFill/>
          </a:ln>
        </p:spPr>
      </p:sp>
      <p:sp>
        <p:nvSpPr>
          <p:cNvPr id="36" name="bay_back_W22">
            <a:extLst xmlns:a="http://schemas.openxmlformats.org/drawingml/2006/main">
              <a:ext uri="{FF2B5EF4-FFF2-40B4-BE49-F238E27FC236}">
                <a16:creationId xmlns:a16="http://schemas.microsoft.com/office/drawing/2014/main" id="{C54AAAA7-CD24-4575-A37D-EFC9D2C4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8629" y="7241381"/>
            <a:ext cx="1489472" cy="71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B93"/>
          </a:solidFill>
          <a:ln xmlns:a="http://schemas.openxmlformats.org/drawingml/2006/main" w="0">
            <a:noFill/>
          </a:ln>
        </p:spPr>
      </p:sp>
      <p:sp>
        <p:nvSpPr>
          <p:cNvPr id="37" name="bay_right_W21">
            <a:extLst xmlns:a="http://schemas.openxmlformats.org/drawingml/2006/main">
              <a:ext uri="{FF2B5EF4-FFF2-40B4-BE49-F238E27FC236}">
                <a16:creationId xmlns:a16="http://schemas.microsoft.com/office/drawing/2014/main" id="{AAEA6AF7-7272-4CA9-B8D3-3FA53FFB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8101" y="6662738"/>
            <a:ext cx="71438" cy="6500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B93"/>
          </a:solidFill>
          <a:ln xmlns:a="http://schemas.openxmlformats.org/drawingml/2006/main" w="0">
            <a:noFill/>
          </a:ln>
        </p:spPr>
      </p:sp>
      <p:sp>
        <p:nvSpPr>
          <p:cNvPr id="38" name="W01 opening 107.00cm measured_width_height_assumed">
            <a:extLst xmlns:a="http://schemas.openxmlformats.org/drawingml/2006/main">
              <a:ext uri="{FF2B5EF4-FFF2-40B4-BE49-F238E27FC236}">
                <a16:creationId xmlns:a16="http://schemas.microsoft.com/office/drawing/2014/main" id="{CCA4926F-76F9-479C-ACD2-8DC0C51E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456" y="1333500"/>
            <a:ext cx="76438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F9ED5"/>
            </a:solidFill>
          </a:ln>
        </p:spPr>
      </p:sp>
      <p:sp>
        <p:nvSpPr>
          <p:cNvPr id="39" name="W35 opening 354.50cm measured_width_height_assumed">
            <a:extLst xmlns:a="http://schemas.openxmlformats.org/drawingml/2006/main">
              <a:ext uri="{FF2B5EF4-FFF2-40B4-BE49-F238E27FC236}">
                <a16:creationId xmlns:a16="http://schemas.microsoft.com/office/drawing/2014/main" id="{6A73C053-C5F2-4B3B-B1CE-CBBD01A7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662738"/>
            <a:ext cx="25324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F9ED5"/>
            </a:solidFill>
          </a:ln>
        </p:spPr>
      </p:sp>
      <p:sp>
        <p:nvSpPr>
          <p:cNvPr id="40" name="W28 opening 175.00cm measured_width_height_assumed">
            <a:extLst xmlns:a="http://schemas.openxmlformats.org/drawingml/2006/main">
              <a:ext uri="{FF2B5EF4-FFF2-40B4-BE49-F238E27FC236}">
                <a16:creationId xmlns:a16="http://schemas.microsoft.com/office/drawing/2014/main" id="{48AE1E33-B5CB-4AC2-B2B8-5BB7FB05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478" y="6662738"/>
            <a:ext cx="12501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F9ED5"/>
            </a:solidFill>
          </a:ln>
        </p:spPr>
      </p:sp>
      <p:sp>
        <p:nvSpPr>
          <p:cNvPr id="41" name="D_guest opening 79.73cm inferred_width_height_assumed">
            <a:extLst xmlns:a="http://schemas.openxmlformats.org/drawingml/2006/main">
              <a:ext uri="{FF2B5EF4-FFF2-40B4-BE49-F238E27FC236}">
                <a16:creationId xmlns:a16="http://schemas.microsoft.com/office/drawing/2014/main" id="{3E0ACA3C-00B6-46DD-87E9-D6ABC2A2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1882" y="3444478"/>
            <a:ext cx="56956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F9ED5"/>
            </a:solidFill>
          </a:ln>
        </p:spPr>
      </p:sp>
      <p:sp>
        <p:nvSpPr>
          <p:cNvPr id="42" name="D_bed2 opening 83.00cm inferred_width_height_assumed">
            <a:extLst xmlns:a="http://schemas.openxmlformats.org/drawingml/2006/main">
              <a:ext uri="{FF2B5EF4-FFF2-40B4-BE49-F238E27FC236}">
                <a16:creationId xmlns:a16="http://schemas.microsoft.com/office/drawing/2014/main" id="{39B2D7AF-C16D-4E85-8C8A-CF339C54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7951" y="3444478"/>
            <a:ext cx="5929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F9ED5"/>
            </a:solidFill>
          </a:ln>
        </p:spPr>
      </p:sp>
      <p:sp>
        <p:nvSpPr>
          <p:cNvPr id="43" name="D_right_bath opening 86.77cm inferred_width_height_assumed">
            <a:extLst xmlns:a="http://schemas.openxmlformats.org/drawingml/2006/main">
              <a:ext uri="{FF2B5EF4-FFF2-40B4-BE49-F238E27FC236}">
                <a16:creationId xmlns:a16="http://schemas.microsoft.com/office/drawing/2014/main" id="{9CAD89F9-44F6-4F1C-82A8-9CF13522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207" y="3444478"/>
            <a:ext cx="6198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F9ED5"/>
            </a:solidFill>
          </a:ln>
        </p:spPr>
      </p:sp>
      <p:sp>
        <p:nvSpPr>
          <p:cNvPr id="44" name="D_bed3 opening 97.50cm inferred_width_height_assumed">
            <a:extLst xmlns:a="http://schemas.openxmlformats.org/drawingml/2006/main">
              <a:ext uri="{FF2B5EF4-FFF2-40B4-BE49-F238E27FC236}">
                <a16:creationId xmlns:a16="http://schemas.microsoft.com/office/drawing/2014/main" id="{BC070D57-2D51-42DF-BB2B-388AD426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9178" y="4405313"/>
            <a:ext cx="696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F9ED5"/>
            </a:solidFill>
          </a:ln>
        </p:spPr>
      </p:sp>
      <p:sp>
        <p:nvSpPr>
          <p:cNvPr id="45" name="K_entry opening 160.50cm inferred_width_height_assumed">
            <a:extLst xmlns:a="http://schemas.openxmlformats.org/drawingml/2006/main">
              <a:ext uri="{FF2B5EF4-FFF2-40B4-BE49-F238E27FC236}">
                <a16:creationId xmlns:a16="http://schemas.microsoft.com/office/drawing/2014/main" id="{F1566D9E-B4C7-4B83-A3B6-3FBF1FC7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838" y="2097881"/>
            <a:ext cx="0" cy="11465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F9ED5"/>
            </a:solidFill>
          </a:ln>
        </p:spPr>
      </p:sp>
      <p:sp>
        <p:nvSpPr>
          <p:cNvPr id="46" name="W01 入户门洞">
            <a:extLst xmlns:a="http://schemas.openxmlformats.org/drawingml/2006/main">
              <a:ext uri="{FF2B5EF4-FFF2-40B4-BE49-F238E27FC236}">
                <a16:creationId xmlns:a16="http://schemas.microsoft.com/office/drawing/2014/main" id="{63AF761B-2E89-4DC1-B612-5AB401FC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866775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W01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107</a:t>
            </a:r>
          </a:p>
        </p:txBody>
      </p:sp>
      <p:sp>
        <p:nvSpPr>
          <p:cNvPr id="47" name="W02 入户门右侧横墙">
            <a:extLst xmlns:a="http://schemas.openxmlformats.org/drawingml/2006/main">
              <a:ext uri="{FF2B5EF4-FFF2-40B4-BE49-F238E27FC236}">
                <a16:creationId xmlns:a16="http://schemas.microsoft.com/office/drawing/2014/main" id="{EC2BFF10-1C49-4E49-AB2D-76969090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863" y="866775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W02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149.4</a:t>
            </a:r>
          </a:p>
        </p:txBody>
      </p:sp>
      <p:sp>
        <p:nvSpPr>
          <p:cNvPr id="48" name="W03 厨房左墙客厅侧">
            <a:extLst xmlns:a="http://schemas.openxmlformats.org/drawingml/2006/main">
              <a:ext uri="{FF2B5EF4-FFF2-40B4-BE49-F238E27FC236}">
                <a16:creationId xmlns:a16="http://schemas.microsoft.com/office/drawing/2014/main" id="{50AF697E-56F8-4BD2-B1D5-47CE3686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31169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W03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107</a:t>
            </a:r>
          </a:p>
        </p:txBody>
      </p:sp>
      <p:sp>
        <p:nvSpPr>
          <p:cNvPr id="49" name="W04 厨房左墙厨房侧">
            <a:extLst xmlns:a="http://schemas.openxmlformats.org/drawingml/2006/main">
              <a:ext uri="{FF2B5EF4-FFF2-40B4-BE49-F238E27FC236}">
                <a16:creationId xmlns:a16="http://schemas.microsoft.com/office/drawing/2014/main" id="{E7D7C15E-BFF7-49EF-8712-0958C55D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688" y="1995488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W04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67.5</a:t>
            </a:r>
          </a:p>
        </p:txBody>
      </p:sp>
      <p:sp>
        <p:nvSpPr>
          <p:cNvPr id="50" name="W05 厨房上方左横段">
            <a:extLst xmlns:a="http://schemas.openxmlformats.org/drawingml/2006/main">
              <a:ext uri="{FF2B5EF4-FFF2-40B4-BE49-F238E27FC236}">
                <a16:creationId xmlns:a16="http://schemas.microsoft.com/office/drawing/2014/main" id="{23C10C7D-43DB-4C43-A042-AE443A69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144" y="1674019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W05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130.13*</a:t>
            </a:r>
          </a:p>
        </p:txBody>
      </p:sp>
      <p:sp>
        <p:nvSpPr>
          <p:cNvPr id="51" name="W06 厨房上方竖向凹口">
            <a:extLst xmlns:a="http://schemas.openxmlformats.org/drawingml/2006/main">
              <a:ext uri="{FF2B5EF4-FFF2-40B4-BE49-F238E27FC236}">
                <a16:creationId xmlns:a16="http://schemas.microsoft.com/office/drawing/2014/main" id="{47EF2F25-04F7-48B3-BF0A-61202FBB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1266825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W06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42</a:t>
            </a:r>
          </a:p>
        </p:txBody>
      </p:sp>
      <p:sp>
        <p:nvSpPr>
          <p:cNvPr id="52" name="W07 厨房上方右横段">
            <a:extLst xmlns:a="http://schemas.openxmlformats.org/drawingml/2006/main">
              <a:ext uri="{FF2B5EF4-FFF2-40B4-BE49-F238E27FC236}">
                <a16:creationId xmlns:a16="http://schemas.microsoft.com/office/drawing/2014/main" id="{E8D6CCF5-36EB-4839-938F-C41E847F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088356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W07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53.93*</a:t>
            </a:r>
          </a:p>
        </p:txBody>
      </p:sp>
      <p:sp>
        <p:nvSpPr>
          <p:cNvPr id="53" name="W08 厨房右侧墙">
            <a:extLst xmlns:a="http://schemas.openxmlformats.org/drawingml/2006/main">
              <a:ext uri="{FF2B5EF4-FFF2-40B4-BE49-F238E27FC236}">
                <a16:creationId xmlns:a16="http://schemas.microsoft.com/office/drawing/2014/main" id="{A4B75A89-7593-4ADB-AF2B-64665EC8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931" y="2717006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W08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214</a:t>
            </a:r>
          </a:p>
        </p:txBody>
      </p:sp>
      <p:sp>
        <p:nvSpPr>
          <p:cNvPr id="54" name="W09 厨房下方内侧横墙">
            <a:extLst xmlns:a="http://schemas.openxmlformats.org/drawingml/2006/main">
              <a:ext uri="{FF2B5EF4-FFF2-40B4-BE49-F238E27FC236}">
                <a16:creationId xmlns:a16="http://schemas.microsoft.com/office/drawing/2014/main" id="{9F4ABD94-842E-4E95-A91D-2460B9CD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38488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W09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184.07*</a:t>
            </a:r>
          </a:p>
        </p:txBody>
      </p:sp>
      <p:sp>
        <p:nvSpPr>
          <p:cNvPr id="55" name="W10 厨房入口下侧短墙内侧">
            <a:extLst xmlns:a="http://schemas.openxmlformats.org/drawingml/2006/main">
              <a:ext uri="{FF2B5EF4-FFF2-40B4-BE49-F238E27FC236}">
                <a16:creationId xmlns:a16="http://schemas.microsoft.com/office/drawing/2014/main" id="{2D6CCF56-263A-4F5D-9A70-888E7903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688" y="2924175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W10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28</a:t>
            </a:r>
          </a:p>
        </p:txBody>
      </p:sp>
      <p:sp>
        <p:nvSpPr>
          <p:cNvPr id="56" name="W11 厨房入口下侧短墙外侧">
            <a:extLst xmlns:a="http://schemas.openxmlformats.org/drawingml/2006/main">
              <a:ext uri="{FF2B5EF4-FFF2-40B4-BE49-F238E27FC236}">
                <a16:creationId xmlns:a16="http://schemas.microsoft.com/office/drawing/2014/main" id="{B9106183-5618-4A88-9C97-C83F2524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8044" y="3202781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W11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40</a:t>
            </a:r>
          </a:p>
        </p:txBody>
      </p:sp>
      <p:sp>
        <p:nvSpPr>
          <p:cNvPr id="57" name="W12 厨房下方外侧横墙">
            <a:extLst xmlns:a="http://schemas.openxmlformats.org/drawingml/2006/main">
              <a:ext uri="{FF2B5EF4-FFF2-40B4-BE49-F238E27FC236}">
                <a16:creationId xmlns:a16="http://schemas.microsoft.com/office/drawing/2014/main" id="{36153515-6BC8-4571-B6AD-25C021B7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9581" y="3617119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W12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221</a:t>
            </a:r>
          </a:p>
        </p:txBody>
      </p:sp>
      <p:sp>
        <p:nvSpPr>
          <p:cNvPr id="58" name="W13 客卫与卧2门洞之间墙段">
            <a:extLst xmlns:a="http://schemas.openxmlformats.org/drawingml/2006/main">
              <a:ext uri="{FF2B5EF4-FFF2-40B4-BE49-F238E27FC236}">
                <a16:creationId xmlns:a16="http://schemas.microsoft.com/office/drawing/2014/main" id="{C214C6A8-A2BD-4C86-924F-B3A1498F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4094" y="3617119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W13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83.5</a:t>
            </a:r>
          </a:p>
        </p:txBody>
      </p:sp>
      <p:sp>
        <p:nvSpPr>
          <p:cNvPr id="59" name="W14 卧2左墙">
            <a:extLst xmlns:a="http://schemas.openxmlformats.org/drawingml/2006/main">
              <a:ext uri="{FF2B5EF4-FFF2-40B4-BE49-F238E27FC236}">
                <a16:creationId xmlns:a16="http://schemas.microsoft.com/office/drawing/2014/main" id="{30D9F858-F297-4573-95F6-CC220FF7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7006" y="2609850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W14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256</a:t>
            </a:r>
          </a:p>
        </p:txBody>
      </p:sp>
      <p:sp>
        <p:nvSpPr>
          <p:cNvPr id="60" name="W15 卧2上墙">
            <a:extLst xmlns:a="http://schemas.openxmlformats.org/drawingml/2006/main">
              <a:ext uri="{FF2B5EF4-FFF2-40B4-BE49-F238E27FC236}">
                <a16:creationId xmlns:a16="http://schemas.microsoft.com/office/drawing/2014/main" id="{129BAA12-306E-411F-AB28-B40BAB47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963" y="1731169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W15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287</a:t>
            </a:r>
          </a:p>
        </p:txBody>
      </p:sp>
      <p:sp>
        <p:nvSpPr>
          <p:cNvPr id="61" name="W16 卧2右墙">
            <a:extLst xmlns:a="http://schemas.openxmlformats.org/drawingml/2006/main">
              <a:ext uri="{FF2B5EF4-FFF2-40B4-BE49-F238E27FC236}">
                <a16:creationId xmlns:a16="http://schemas.microsoft.com/office/drawing/2014/main" id="{4476C776-5F1E-4D9E-BD3B-79D5D5DE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8631" y="2609850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W16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256</a:t>
            </a:r>
          </a:p>
        </p:txBody>
      </p:sp>
      <p:sp>
        <p:nvSpPr>
          <p:cNvPr id="62" name="W17 卧2下侧墙段">
            <a:extLst xmlns:a="http://schemas.openxmlformats.org/drawingml/2006/main">
              <a:ext uri="{FF2B5EF4-FFF2-40B4-BE49-F238E27FC236}">
                <a16:creationId xmlns:a16="http://schemas.microsoft.com/office/drawing/2014/main" id="{AAF088BE-5555-4F9F-9864-3DB336BE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863" y="3138488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W17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192</a:t>
            </a:r>
          </a:p>
        </p:txBody>
      </p:sp>
      <p:sp>
        <p:nvSpPr>
          <p:cNvPr id="63" name="W18 右侧卫生间下侧墙段">
            <a:extLst xmlns:a="http://schemas.openxmlformats.org/drawingml/2006/main">
              <a:ext uri="{FF2B5EF4-FFF2-40B4-BE49-F238E27FC236}">
                <a16:creationId xmlns:a16="http://schemas.microsoft.com/office/drawing/2014/main" id="{4405B91B-953C-4A63-9105-14BC7183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063" y="3617119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W18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73</a:t>
            </a:r>
          </a:p>
        </p:txBody>
      </p:sp>
      <p:sp>
        <p:nvSpPr>
          <p:cNvPr id="64" name="W19 卧1右墙">
            <a:extLst xmlns:a="http://schemas.openxmlformats.org/drawingml/2006/main">
              <a:ext uri="{FF2B5EF4-FFF2-40B4-BE49-F238E27FC236}">
                <a16:creationId xmlns:a16="http://schemas.microsoft.com/office/drawing/2014/main" id="{DD27DA36-E2AE-4108-9B3F-F94B5760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1738" y="4895850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W19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435</a:t>
            </a:r>
          </a:p>
        </p:txBody>
      </p:sp>
      <p:sp>
        <p:nvSpPr>
          <p:cNvPr id="65" name="W20 卧1飘窗右侧余墙">
            <a:extLst xmlns:a="http://schemas.openxmlformats.org/drawingml/2006/main">
              <a:ext uri="{FF2B5EF4-FFF2-40B4-BE49-F238E27FC236}">
                <a16:creationId xmlns:a16="http://schemas.microsoft.com/office/drawing/2014/main" id="{46C5B817-B6C4-4279-B8EB-BF5B6F66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106" y="6824663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W20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45</a:t>
            </a:r>
          </a:p>
        </p:txBody>
      </p:sp>
      <p:sp>
        <p:nvSpPr>
          <p:cNvPr id="66" name="W21 飘窗侧向进深">
            <a:extLst xmlns:a="http://schemas.openxmlformats.org/drawingml/2006/main">
              <a:ext uri="{FF2B5EF4-FFF2-40B4-BE49-F238E27FC236}">
                <a16:creationId xmlns:a16="http://schemas.microsoft.com/office/drawing/2014/main" id="{D10681A4-611C-45D3-A5D8-AA2A34A8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819" y="7346156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W21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81</a:t>
            </a:r>
          </a:p>
        </p:txBody>
      </p:sp>
      <p:sp>
        <p:nvSpPr>
          <p:cNvPr id="67" name="W22 飘窗外侧横段">
            <a:extLst xmlns:a="http://schemas.openxmlformats.org/drawingml/2006/main">
              <a:ext uri="{FF2B5EF4-FFF2-40B4-BE49-F238E27FC236}">
                <a16:creationId xmlns:a16="http://schemas.microsoft.com/office/drawing/2014/main" id="{64B92A19-F721-43D9-BF63-87A68F5E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7574756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W22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208.5</a:t>
            </a:r>
          </a:p>
        </p:txBody>
      </p:sp>
      <p:sp>
        <p:nvSpPr>
          <p:cNvPr id="68" name="W23 卧1飘窗左侧余墙">
            <a:extLst xmlns:a="http://schemas.openxmlformats.org/drawingml/2006/main">
              <a:ext uri="{FF2B5EF4-FFF2-40B4-BE49-F238E27FC236}">
                <a16:creationId xmlns:a16="http://schemas.microsoft.com/office/drawing/2014/main" id="{B0E843A2-E85D-42AF-B8CD-83F1B499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6281738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W23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75.2</a:t>
            </a:r>
          </a:p>
        </p:txBody>
      </p:sp>
      <p:sp>
        <p:nvSpPr>
          <p:cNvPr id="69" name="W24 卧1左墙">
            <a:extLst xmlns:a="http://schemas.openxmlformats.org/drawingml/2006/main">
              <a:ext uri="{FF2B5EF4-FFF2-40B4-BE49-F238E27FC236}">
                <a16:creationId xmlns:a16="http://schemas.microsoft.com/office/drawing/2014/main" id="{A104DB45-D583-4693-A8A5-129D27E6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131594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W24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340.3</a:t>
            </a:r>
          </a:p>
        </p:txBody>
      </p:sp>
      <p:sp>
        <p:nvSpPr>
          <p:cNvPr id="70" name="W25 卧3上方墙段">
            <a:extLst xmlns:a="http://schemas.openxmlformats.org/drawingml/2006/main">
              <a:ext uri="{FF2B5EF4-FFF2-40B4-BE49-F238E27FC236}">
                <a16:creationId xmlns:a16="http://schemas.microsoft.com/office/drawing/2014/main" id="{C29E890B-541D-4C04-8141-767BED95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488656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W25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181</a:t>
            </a:r>
          </a:p>
        </p:txBody>
      </p:sp>
      <p:sp>
        <p:nvSpPr>
          <p:cNvPr id="71" name="W26 卧3左墙内侧">
            <a:extLst xmlns:a="http://schemas.openxmlformats.org/drawingml/2006/main">
              <a:ext uri="{FF2B5EF4-FFF2-40B4-BE49-F238E27FC236}">
                <a16:creationId xmlns:a16="http://schemas.microsoft.com/office/drawing/2014/main" id="{0829421D-E8D0-4B51-90BE-079149F4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5367338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W26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316</a:t>
            </a:r>
          </a:p>
        </p:txBody>
      </p:sp>
      <p:sp>
        <p:nvSpPr>
          <p:cNvPr id="72" name="W27 卧3南侧门洞左段">
            <a:extLst xmlns:a="http://schemas.openxmlformats.org/drawingml/2006/main">
              <a:ext uri="{FF2B5EF4-FFF2-40B4-BE49-F238E27FC236}">
                <a16:creationId xmlns:a16="http://schemas.microsoft.com/office/drawing/2014/main" id="{3B49A992-CA45-4967-A03A-0638A470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138" y="6238875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W27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37</a:t>
            </a:r>
          </a:p>
        </p:txBody>
      </p:sp>
      <p:sp>
        <p:nvSpPr>
          <p:cNvPr id="73" name="W28 卧3通阳台门洞">
            <a:extLst xmlns:a="http://schemas.openxmlformats.org/drawingml/2006/main">
              <a:ext uri="{FF2B5EF4-FFF2-40B4-BE49-F238E27FC236}">
                <a16:creationId xmlns:a16="http://schemas.microsoft.com/office/drawing/2014/main" id="{7A42E536-B3B9-4C30-82EB-A206DA36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1231" y="6238875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W28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175</a:t>
            </a:r>
          </a:p>
        </p:txBody>
      </p:sp>
      <p:sp>
        <p:nvSpPr>
          <p:cNvPr id="74" name="W29 卧3南侧门洞右段">
            <a:extLst xmlns:a="http://schemas.openxmlformats.org/drawingml/2006/main">
              <a:ext uri="{FF2B5EF4-FFF2-40B4-BE49-F238E27FC236}">
                <a16:creationId xmlns:a16="http://schemas.microsoft.com/office/drawing/2014/main" id="{1EF3DB46-E663-4CE1-B24B-DA3ECC72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769" y="6238875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W29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66.5</a:t>
            </a:r>
          </a:p>
        </p:txBody>
      </p:sp>
      <p:sp>
        <p:nvSpPr>
          <p:cNvPr id="75" name="W30 阳台左侧">
            <a:extLst xmlns:a="http://schemas.openxmlformats.org/drawingml/2006/main">
              <a:ext uri="{FF2B5EF4-FFF2-40B4-BE49-F238E27FC236}">
                <a16:creationId xmlns:a16="http://schemas.microsoft.com/office/drawing/2014/main" id="{7088253F-EDEC-4F3C-8148-0B068FFA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269" y="7274719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W30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196</a:t>
            </a:r>
          </a:p>
        </p:txBody>
      </p:sp>
      <p:sp>
        <p:nvSpPr>
          <p:cNvPr id="76" name="W31 阳台下侧总宽">
            <a:extLst xmlns:a="http://schemas.openxmlformats.org/drawingml/2006/main">
              <a:ext uri="{FF2B5EF4-FFF2-40B4-BE49-F238E27FC236}">
                <a16:creationId xmlns:a16="http://schemas.microsoft.com/office/drawing/2014/main" id="{436DDC21-3BCC-4907-B2F6-EDD6B2A3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056" y="8374856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W31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693</a:t>
            </a:r>
          </a:p>
        </p:txBody>
      </p:sp>
      <p:sp>
        <p:nvSpPr>
          <p:cNvPr id="77" name="W32 阳台右侧">
            <a:extLst xmlns:a="http://schemas.openxmlformats.org/drawingml/2006/main">
              <a:ext uri="{FF2B5EF4-FFF2-40B4-BE49-F238E27FC236}">
                <a16:creationId xmlns:a16="http://schemas.microsoft.com/office/drawing/2014/main" id="{54B71A88-B23A-4329-BC83-375FDF12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1413" y="7996238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W32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196</a:t>
            </a:r>
          </a:p>
        </p:txBody>
      </p:sp>
      <p:sp>
        <p:nvSpPr>
          <p:cNvPr id="78" name="W33 卧3左墙客厅侧">
            <a:extLst xmlns:a="http://schemas.openxmlformats.org/drawingml/2006/main">
              <a:ext uri="{FF2B5EF4-FFF2-40B4-BE49-F238E27FC236}">
                <a16:creationId xmlns:a16="http://schemas.microsoft.com/office/drawing/2014/main" id="{88E8488D-1B59-4278-96EC-3A337B19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788" y="5367338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W33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327.5</a:t>
            </a:r>
          </a:p>
        </p:txBody>
      </p:sp>
      <p:sp>
        <p:nvSpPr>
          <p:cNvPr id="79" name="W34 客厅通阳台门洞右侧墙段">
            <a:extLst xmlns:a="http://schemas.openxmlformats.org/drawingml/2006/main">
              <a:ext uri="{FF2B5EF4-FFF2-40B4-BE49-F238E27FC236}">
                <a16:creationId xmlns:a16="http://schemas.microsoft.com/office/drawing/2014/main" id="{F507A69F-289F-4602-B427-054CC3F0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656" y="6238875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W34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52</a:t>
            </a:r>
          </a:p>
        </p:txBody>
      </p:sp>
      <p:sp>
        <p:nvSpPr>
          <p:cNvPr id="80" name="W35 客厅通阳台门洞">
            <a:extLst xmlns:a="http://schemas.openxmlformats.org/drawingml/2006/main">
              <a:ext uri="{FF2B5EF4-FFF2-40B4-BE49-F238E27FC236}">
                <a16:creationId xmlns:a16="http://schemas.microsoft.com/office/drawing/2014/main" id="{BF8A3692-0187-4B6D-9576-7D2B204A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6238875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W35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354.5</a:t>
            </a:r>
          </a:p>
        </p:txBody>
      </p:sp>
      <p:sp>
        <p:nvSpPr>
          <p:cNvPr id="81" name="W36 客厅通阳台门洞左侧墙段">
            <a:extLst xmlns:a="http://schemas.openxmlformats.org/drawingml/2006/main">
              <a:ext uri="{FF2B5EF4-FFF2-40B4-BE49-F238E27FC236}">
                <a16:creationId xmlns:a16="http://schemas.microsoft.com/office/drawing/2014/main" id="{8FEAD48E-C761-4A8D-BFC5-96060A44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6413" y="6238875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W36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120</a:t>
            </a:r>
          </a:p>
        </p:txBody>
      </p:sp>
      <p:sp>
        <p:nvSpPr>
          <p:cNvPr id="82" name="W37 电视墙下方墙段">
            <a:extLst xmlns:a="http://schemas.openxmlformats.org/drawingml/2006/main">
              <a:ext uri="{FF2B5EF4-FFF2-40B4-BE49-F238E27FC236}">
                <a16:creationId xmlns:a16="http://schemas.microsoft.com/office/drawing/2014/main" id="{A2A9D904-2517-4FED-9EC2-B721BC93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294" y="6410325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W37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83" name="W38 电视墙">
            <a:extLst xmlns:a="http://schemas.openxmlformats.org/drawingml/2006/main">
              <a:ext uri="{FF2B5EF4-FFF2-40B4-BE49-F238E27FC236}">
                <a16:creationId xmlns:a16="http://schemas.microsoft.com/office/drawing/2014/main" id="{89AC820F-98BC-4D50-B77C-251A1CF6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294" y="5210175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W38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311</a:t>
            </a:r>
          </a:p>
        </p:txBody>
      </p:sp>
      <p:sp>
        <p:nvSpPr>
          <p:cNvPr id="84" name="W39 客厅左侧上段">
            <a:extLst xmlns:a="http://schemas.openxmlformats.org/drawingml/2006/main">
              <a:ext uri="{FF2B5EF4-FFF2-40B4-BE49-F238E27FC236}">
                <a16:creationId xmlns:a16="http://schemas.microsoft.com/office/drawing/2014/main" id="{56B7C3ED-FEB4-4038-A6AD-B6703BEB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294" y="2674144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W39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416</a:t>
            </a:r>
          </a:p>
        </p:txBody>
      </p:sp>
      <p:sp>
        <p:nvSpPr>
          <p:cNvPr id="85" name="W40 入户门左侧横墙">
            <a:extLst xmlns:a="http://schemas.openxmlformats.org/drawingml/2006/main">
              <a:ext uri="{FF2B5EF4-FFF2-40B4-BE49-F238E27FC236}">
                <a16:creationId xmlns:a16="http://schemas.microsoft.com/office/drawing/2014/main" id="{FC3B97D4-C48C-41FA-92E9-C42A9725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956" y="866775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W40</a:t>
            </a:r>
          </a:p>
          <a:p xmlns:a="http://schemas.openxmlformats.org/drawingml/2006/main">
            <a:pPr algn="ctr">
              <a:def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9E302A"/>
                </a:solidFill>
                <a:latin typeface="DejaVu Sans"/>
                <a:ea typeface="DejaVu Sans"/>
                <a:cs typeface="DejaVu Sans"/>
              </a:rPr>
              <a:t>70.3</a:t>
            </a:r>
          </a:p>
        </p:txBody>
      </p:sp>
      <p:sp>
        <p:nvSpPr>
          <p:cNvPr id="86" name="客餐厅">
            <a:extLst xmlns:a="http://schemas.openxmlformats.org/drawingml/2006/main">
              <a:ext uri="{FF2B5EF4-FFF2-40B4-BE49-F238E27FC236}">
                <a16:creationId xmlns:a16="http://schemas.microsoft.com/office/drawing/2014/main" id="{DCD98E1B-30ED-426A-8713-4E0B5EF7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8438" y="4043363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>
                <a:solidFill>
                  <a:srgbClr val="6674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66747A"/>
                </a:solidFill>
                <a:latin typeface="DejaVu Sans"/>
                <a:ea typeface="DejaVu Sans"/>
                <a:cs typeface="DejaVu Sans"/>
              </a:defRPr>
            </a:pPr>
            <a:r>
              <a:rPr sz="900">
                <a:solidFill>
                  <a:srgbClr val="66747A"/>
                </a:solidFill>
                <a:latin typeface="DejaVu Sans"/>
                <a:ea typeface="DejaVu Sans"/>
                <a:cs typeface="DejaVu Sans"/>
              </a:rPr>
              <a:t>Living / Dining</a:t>
            </a:r>
          </a:p>
        </p:txBody>
      </p:sp>
      <p:sp>
        <p:nvSpPr>
          <p:cNvPr id="87" name="厨房">
            <a:extLst xmlns:a="http://schemas.openxmlformats.org/drawingml/2006/main">
              <a:ext uri="{FF2B5EF4-FFF2-40B4-BE49-F238E27FC236}">
                <a16:creationId xmlns:a16="http://schemas.microsoft.com/office/drawing/2014/main" id="{9E2D6F5E-8738-46EE-A9B2-FD26CB0C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181" y="2521744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>
                <a:solidFill>
                  <a:srgbClr val="6674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66747A"/>
                </a:solidFill>
                <a:latin typeface="DejaVu Sans"/>
                <a:ea typeface="DejaVu Sans"/>
                <a:cs typeface="DejaVu Sans"/>
              </a:defRPr>
            </a:pPr>
            <a:r>
              <a:rPr sz="900">
                <a:solidFill>
                  <a:srgbClr val="66747A"/>
                </a:solidFill>
                <a:latin typeface="DejaVu Sans"/>
                <a:ea typeface="DejaVu Sans"/>
                <a:cs typeface="DejaVu Sans"/>
              </a:rPr>
              <a:t>Kitchen</a:t>
            </a:r>
          </a:p>
        </p:txBody>
      </p:sp>
      <p:sp>
        <p:nvSpPr>
          <p:cNvPr id="88" name="客卫">
            <a:extLst xmlns:a="http://schemas.openxmlformats.org/drawingml/2006/main">
              <a:ext uri="{FF2B5EF4-FFF2-40B4-BE49-F238E27FC236}">
                <a16:creationId xmlns:a16="http://schemas.microsoft.com/office/drawing/2014/main" id="{29967F68-333E-4D9F-A6B3-CC0FBD45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7344" y="2614613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>
                <a:solidFill>
                  <a:srgbClr val="6674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66747A"/>
                </a:solidFill>
                <a:latin typeface="DejaVu Sans"/>
                <a:ea typeface="DejaVu Sans"/>
                <a:cs typeface="DejaVu Sans"/>
              </a:defRPr>
            </a:pPr>
            <a:r>
              <a:rPr sz="900">
                <a:solidFill>
                  <a:srgbClr val="66747A"/>
                </a:solidFill>
                <a:latin typeface="DejaVu Sans"/>
                <a:ea typeface="DejaVu Sans"/>
                <a:cs typeface="DejaVu Sans"/>
              </a:rPr>
              <a:t>Bath</a:t>
            </a:r>
          </a:p>
        </p:txBody>
      </p:sp>
      <p:sp>
        <p:nvSpPr>
          <p:cNvPr id="89" name="卧2">
            <a:extLst xmlns:a="http://schemas.openxmlformats.org/drawingml/2006/main">
              <a:ext uri="{FF2B5EF4-FFF2-40B4-BE49-F238E27FC236}">
                <a16:creationId xmlns:a16="http://schemas.microsoft.com/office/drawing/2014/main" id="{30A2886C-AD52-4B59-97A4-A3A1A305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3269" y="2578894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>
                <a:solidFill>
                  <a:srgbClr val="6674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66747A"/>
                </a:solidFill>
                <a:latin typeface="DejaVu Sans"/>
                <a:ea typeface="DejaVu Sans"/>
                <a:cs typeface="DejaVu Sans"/>
              </a:defRPr>
            </a:pPr>
            <a:r>
              <a:rPr sz="900">
                <a:solidFill>
                  <a:srgbClr val="66747A"/>
                </a:solidFill>
                <a:latin typeface="DejaVu Sans"/>
                <a:ea typeface="DejaVu Sans"/>
                <a:cs typeface="DejaVu Sans"/>
              </a:rPr>
              <a:t>Bed 2</a:t>
            </a:r>
          </a:p>
        </p:txBody>
      </p:sp>
      <p:sp>
        <p:nvSpPr>
          <p:cNvPr id="90" name="主卫">
            <a:extLst xmlns:a="http://schemas.openxmlformats.org/drawingml/2006/main">
              <a:ext uri="{FF2B5EF4-FFF2-40B4-BE49-F238E27FC236}">
                <a16:creationId xmlns:a16="http://schemas.microsoft.com/office/drawing/2014/main" id="{F9793EC9-30F0-469E-839E-814454AA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14613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>
                <a:solidFill>
                  <a:srgbClr val="6674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66747A"/>
                </a:solidFill>
                <a:latin typeface="DejaVu Sans"/>
                <a:ea typeface="DejaVu Sans"/>
                <a:cs typeface="DejaVu Sans"/>
              </a:defRPr>
            </a:pPr>
            <a:r>
              <a:rPr sz="900">
                <a:solidFill>
                  <a:srgbClr val="66747A"/>
                </a:solidFill>
                <a:latin typeface="DejaVu Sans"/>
                <a:ea typeface="DejaVu Sans"/>
                <a:cs typeface="DejaVu Sans"/>
              </a:rPr>
              <a:t>Bath</a:t>
            </a:r>
          </a:p>
        </p:txBody>
      </p:sp>
      <p:sp>
        <p:nvSpPr>
          <p:cNvPr id="91" name="卧1">
            <a:extLst xmlns:a="http://schemas.openxmlformats.org/drawingml/2006/main">
              <a:ext uri="{FF2B5EF4-FFF2-40B4-BE49-F238E27FC236}">
                <a16:creationId xmlns:a16="http://schemas.microsoft.com/office/drawing/2014/main" id="{BD00F897-5A55-4E03-9BD9-5EFA710A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706" y="5150644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>
                <a:solidFill>
                  <a:srgbClr val="6674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66747A"/>
                </a:solidFill>
                <a:latin typeface="DejaVu Sans"/>
                <a:ea typeface="DejaVu Sans"/>
                <a:cs typeface="DejaVu Sans"/>
              </a:defRPr>
            </a:pPr>
            <a:r>
              <a:rPr sz="900">
                <a:solidFill>
                  <a:srgbClr val="66747A"/>
                </a:solidFill>
                <a:latin typeface="DejaVu Sans"/>
                <a:ea typeface="DejaVu Sans"/>
                <a:cs typeface="DejaVu Sans"/>
              </a:rPr>
              <a:t>Bed 1</a:t>
            </a:r>
          </a:p>
        </p:txBody>
      </p:sp>
      <p:sp>
        <p:nvSpPr>
          <p:cNvPr id="92" name="卧3">
            <a:extLst xmlns:a="http://schemas.openxmlformats.org/drawingml/2006/main">
              <a:ext uri="{FF2B5EF4-FFF2-40B4-BE49-F238E27FC236}">
                <a16:creationId xmlns:a16="http://schemas.microsoft.com/office/drawing/2014/main" id="{1647BB84-164E-44BF-93E3-F1BA5D8B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4556" y="5357813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>
                <a:solidFill>
                  <a:srgbClr val="6674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66747A"/>
                </a:solidFill>
                <a:latin typeface="DejaVu Sans"/>
                <a:ea typeface="DejaVu Sans"/>
                <a:cs typeface="DejaVu Sans"/>
              </a:defRPr>
            </a:pPr>
            <a:r>
              <a:rPr sz="900">
                <a:solidFill>
                  <a:srgbClr val="66747A"/>
                </a:solidFill>
                <a:latin typeface="DejaVu Sans"/>
                <a:ea typeface="DejaVu Sans"/>
                <a:cs typeface="DejaVu Sans"/>
              </a:rPr>
              <a:t>Bed 3</a:t>
            </a:r>
          </a:p>
        </p:txBody>
      </p:sp>
      <p:sp>
        <p:nvSpPr>
          <p:cNvPr id="93" name="阳台">
            <a:extLst xmlns:a="http://schemas.openxmlformats.org/drawingml/2006/main">
              <a:ext uri="{FF2B5EF4-FFF2-40B4-BE49-F238E27FC236}">
                <a16:creationId xmlns:a16="http://schemas.microsoft.com/office/drawing/2014/main" id="{CDAEF099-92B7-49C3-84AB-2B642D0A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7436644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>
                <a:solidFill>
                  <a:srgbClr val="6674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66747A"/>
                </a:solidFill>
                <a:latin typeface="DejaVu Sans"/>
                <a:ea typeface="DejaVu Sans"/>
                <a:cs typeface="DejaVu Sans"/>
              </a:defRPr>
            </a:pPr>
            <a:r>
              <a:rPr sz="900">
                <a:solidFill>
                  <a:srgbClr val="66747A"/>
                </a:solidFill>
                <a:latin typeface="DejaVu Sans"/>
                <a:ea typeface="DejaVu Sans"/>
                <a:cs typeface="DejaVu Sans"/>
              </a:rPr>
              <a:t>Balcony</a:t>
            </a:r>
          </a:p>
        </p:txBody>
      </p:sp>
      <p:sp>
        <p:nvSpPr>
          <p:cNvPr id="94" name="Title">
            <a:extLst xmlns:a="http://schemas.openxmlformats.org/drawingml/2006/main">
              <a:ext uri="{FF2B5EF4-FFF2-40B4-BE49-F238E27FC236}">
                <a16:creationId xmlns:a16="http://schemas.microsoft.com/office/drawing/2014/main" id="{36E6F551-1E4E-4CD5-AB02-D280EB54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28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>
                <a:solidFill>
                  <a:srgbClr val="243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75">
                <a:solidFill>
                  <a:srgbClr val="243B45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243B45"/>
                </a:solidFill>
                <a:latin typeface="DejaVu Sans"/>
                <a:ea typeface="DejaVu Sans"/>
                <a:cs typeface="DejaVu Sans"/>
              </a:rPr>
              <a:t>FINISHED-SURFACE BALANCED PLAN</a:t>
            </a:r>
          </a:p>
        </p:txBody>
      </p:sp>
      <p:sp>
        <p:nvSpPr>
          <p:cNvPr id="95" name="Fit summary">
            <a:extLst xmlns:a="http://schemas.openxmlformats.org/drawingml/2006/main">
              <a:ext uri="{FF2B5EF4-FFF2-40B4-BE49-F238E27FC236}">
                <a16:creationId xmlns:a16="http://schemas.microsoft.com/office/drawing/2014/main" id="{25392620-01F4-48D2-B2A0-F6FF5C8E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672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>
                <a:solidFill>
                  <a:srgbClr val="243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243B45"/>
                </a:solidFill>
                <a:latin typeface="DejaVu Sans"/>
                <a:ea typeface="DejaVu Sans"/>
                <a:cs typeface="DejaVu Sans"/>
              </a:defRPr>
            </a:pPr>
            <a:r>
              <a:rPr sz="975">
                <a:solidFill>
                  <a:srgbClr val="243B45"/>
                </a:solidFill>
                <a:latin typeface="DejaVu Sans"/>
                <a:ea typeface="DejaVu Sans"/>
                <a:cs typeface="DejaVu Sans"/>
              </a:rPr>
              <a:t>Labels: cm. 37 spans unchanged; W05 / W07 / W09 adjusted by 0.667 mm each.</a:t>
            </a:r>
          </a:p>
        </p:txBody>
      </p:sp>
      <p:sp>
        <p:nvSpPr>
          <p:cNvPr id="96" name="Assumptions">
            <a:extLst xmlns:a="http://schemas.openxmlformats.org/drawingml/2006/main">
              <a:ext uri="{FF2B5EF4-FFF2-40B4-BE49-F238E27FC236}">
                <a16:creationId xmlns:a16="http://schemas.microsoft.com/office/drawing/2014/main" id="{F68BD042-D739-42C3-8D38-80F53AAC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85800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>
                <a:solidFill>
                  <a:srgbClr val="243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>
                <a:solidFill>
                  <a:srgbClr val="243B45"/>
                </a:solidFill>
                <a:latin typeface="DejaVu Sans"/>
                <a:ea typeface="DejaVu Sans"/>
                <a:cs typeface="DejaVu Sans"/>
              </a:defRPr>
            </a:pPr>
            <a:r>
              <a:rPr sz="900">
                <a:solidFill>
                  <a:srgbClr val="243B45"/>
                </a:solidFill>
                <a:latin typeface="DejaVu Sans"/>
                <a:ea typeface="DejaVu Sans"/>
                <a:cs typeface="DejaVu Sans"/>
              </a:rPr>
              <a:t>Unmeasured thickness and positions inferred. Balcony return offset: 62.5 cm. Not an as-built drawing.</a:t>
            </a:r>
          </a:p>
        </p:txBody>
      </p:sp>
      <p:sp>
        <p:nvSpPr>
          <p:cNvPr id="97" name="Legend">
            <a:extLst xmlns:a="http://schemas.openxmlformats.org/drawingml/2006/main">
              <a:ext uri="{FF2B5EF4-FFF2-40B4-BE49-F238E27FC236}">
                <a16:creationId xmlns:a16="http://schemas.microsoft.com/office/drawing/2014/main" id="{377DDB7B-F9B1-4488-8B36-4D5CF9AC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9154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>
                <a:solidFill>
                  <a:srgbClr val="243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>
                <a:solidFill>
                  <a:srgbClr val="243B45"/>
                </a:solidFill>
                <a:latin typeface="DejaVu Sans"/>
                <a:ea typeface="DejaVu Sans"/>
                <a:cs typeface="DejaVu Sans"/>
              </a:defRPr>
            </a:pPr>
            <a:r>
              <a:rPr sz="825">
                <a:solidFill>
                  <a:srgbClr val="243B45"/>
                </a:solidFill>
                <a:latin typeface="DejaVu Sans"/>
                <a:ea typeface="DejaVu Sans"/>
                <a:cs typeface="DejaVu Sans"/>
              </a:rPr>
              <a:t>ORANGE: TV WALL     BLUE: OPENINGS     PURPLE: BAY WINDOW     * adjusted value</a:t>
            </a:r>
          </a:p>
        </p:txBody>
      </p:sp>
      <p:sp>
        <p:nvSpPr>
          <p:cNvPr id="98" name="balcony return offset 625mm inferred">
            <a:extLst xmlns:a="http://schemas.openxmlformats.org/drawingml/2006/main">
              <a:ext uri="{FF2B5EF4-FFF2-40B4-BE49-F238E27FC236}">
                <a16:creationId xmlns:a16="http://schemas.microsoft.com/office/drawing/2014/main" id="{D8FE5C6E-30B9-416E-9675-547F680B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0634" y="7127081"/>
            <a:ext cx="4464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16625"/>
            </a:solidFill>
          </a:ln>
        </p:spPr>
      </p:sp>
      <p:sp>
        <p:nvSpPr>
          <p:cNvPr id="99" name="Return offset label">
            <a:extLst xmlns:a="http://schemas.openxmlformats.org/drawingml/2006/main">
              <a:ext uri="{FF2B5EF4-FFF2-40B4-BE49-F238E27FC236}">
                <a16:creationId xmlns:a16="http://schemas.microsoft.com/office/drawing/2014/main" id="{2113B407-801F-4551-AD33-E375CD90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1452" y="7155656"/>
            <a:ext cx="704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750">
                <a:solidFill>
                  <a:srgbClr val="A166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750">
                <a:solidFill>
                  <a:srgbClr val="A16625"/>
                </a:solidFill>
                <a:latin typeface="DejaVu Sans"/>
                <a:ea typeface="DejaVu Sans"/>
                <a:cs typeface="DejaVu Sans"/>
              </a:defRPr>
            </a:pPr>
            <a:r>
              <a:rPr sz="750">
                <a:solidFill>
                  <a:srgbClr val="A16625"/>
                </a:solidFill>
                <a:latin typeface="DejaVu Sans"/>
                <a:ea typeface="DejaVu Sans"/>
                <a:cs typeface="DejaVu Sans"/>
              </a:rPr>
              <a:t>62.5 cm</a:t>
            </a:r>
          </a:p>
          <a:p xmlns:a="http://schemas.openxmlformats.org/drawingml/2006/main">
            <a:pPr algn="ctr">
              <a:defRPr sz="750">
                <a:solidFill>
                  <a:srgbClr val="A16625"/>
                </a:solidFill>
                <a:latin typeface="DejaVu Sans"/>
                <a:ea typeface="DejaVu Sans"/>
                <a:cs typeface="DejaVu Sans"/>
              </a:defRPr>
            </a:pPr>
            <a:r>
              <a:rPr sz="750">
                <a:solidFill>
                  <a:srgbClr val="A16625"/>
                </a:solidFill>
                <a:latin typeface="DejaVu Sans"/>
                <a:ea typeface="DejaVu Sans"/>
                <a:cs typeface="DejaVu Sans"/>
              </a:rPr>
              <a:t>inferred</a:t>
            </a:r>
          </a:p>
        </p:txBody>
      </p:sp>
    </p:spTree>
    <p:extLst>
      <p:ext uri="{BB962C8B-B14F-4D97-AF65-F5344CB8AC3E}">
        <p14:creationId xmlns:p14="http://schemas.microsoft.com/office/powerpoint/2010/main" val="19914337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2026-10-12T05:51:19.3510000Z</dcterms:created>
  <dcterms:modified xsi:type="dcterms:W3CDTF">2026-10-12T05:51:19.3510000Z</dcterms:modified>
</coreProperties>
</file>